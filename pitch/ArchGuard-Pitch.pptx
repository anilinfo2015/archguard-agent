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ArchGuard-AI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>
                <a:solidFill>
                  <a:srgbClr val="DAE3F3"/>
                </a:solidFill>
              </a:rPr>
              <a:t>Continuous architecture review at every step — not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DAE3F3"/>
                </a:solidFill>
              </a:rPr>
              <a:t>Internal hackathon pitch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000" b="1">
                <a:solidFill>
                  <a:srgbClr val="FFFFFF"/>
                </a:solidFill>
              </a:rPr>
              <a:t>  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51560"/>
            <a:ext cx="11612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44444"/>
                </a:solidFill>
              </a:rPr>
              <a:t>A two-sided pain — for the developer and the architect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444444"/>
                </a:solidFill>
              </a:rPr>
              <a:t>• Developers must ship fast but don't hold the whole architecture in their head — so they cross a boundary without knowing it existed.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44444"/>
                </a:solidFill>
              </a:rPr>
              <a:t>• Architects have no lever except email — nudging teams rule by rule, thread by thread. Governance by reminder doesn't scale.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44444"/>
                </a:solidFill>
              </a:rPr>
              <a:t>• Reviewed once, then it drifts — signed off at kickoff, maybe revisited at an ARB every ~6 months; code drifts in between until it is expensive to unwind.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44444"/>
                </a:solidFill>
              </a:rPr>
              <a:t>• Rules are hard to enforce because they are hard to update — they live in wikis, slides, and heads, never as architecture-as-code, so there is no check on the PR.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</a:rPr>
              <a:t>Architecture intent is never turned into an executable, always-on check that runs where developers work — the pull request.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000" b="1">
                <a:solidFill>
                  <a:srgbClr val="FFFFFF"/>
                </a:solidFill>
              </a:rPr>
              <a:t>   The idea — Define, Automate, Enforce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100">
                <a:solidFill>
                  <a:srgbClr val="444444"/>
                </a:solidFill>
              </a:rPr>
              <a:t>• Define — write the rule in plain English. No DSL, no special syntax; easy for any architect.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444444"/>
                </a:solidFill>
              </a:rPr>
              <a:t>• Automate — an LLM turns it into an architectural fitness function (architecture-as-code), once, at authoring time.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444444"/>
                </a:solidFill>
              </a:rPr>
              <a:t>• Enforce — the pipeline runs that fitness function deterministically on every PR.</a:t>
            </a:r>
          </a:p>
          <a:p>
            <a:pPr>
              <a:spcAft>
                <a:spcPts val="800"/>
              </a:spcAft>
            </a:pPr>
            <a:r>
              <a:rPr sz="2100">
                <a:solidFill>
                  <a:srgbClr val="444444"/>
                </a:solidFill>
              </a:rPr>
              <a:t>• Findings carry a policy ID + file:line. High-confidence drift blocks the merge.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E7D32"/>
                </a:solidFill>
              </a:rPr>
              <a:t>The model proposes at authoring time. The fitness function decides at runtime.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000" b="1">
                <a:solidFill>
                  <a:srgbClr val="FFFFFF"/>
                </a:solidFill>
              </a:rPr>
              <a:t>   Flow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Author once (LLM)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377440" cy="914400"/>
          </a:xfrm>
          <a:prstGeom prst="roundRect">
            <a:avLst/>
          </a:prstGeom>
          <a:solidFill>
            <a:srgbClr val="DAE3F3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4E79"/>
                </a:solidFill>
              </a:rPr>
              <a:t>Rules in English
(MD via PR / UI)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645920"/>
            <a:ext cx="2194560" cy="914400"/>
          </a:xfrm>
          <a:prstGeom prst="roundRect">
            <a:avLst/>
          </a:prstGeom>
          <a:solidFill>
            <a:srgbClr val="DAE3F3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4E79"/>
                </a:solidFill>
              </a:rPr>
              <a:t>LLM compiler
skill/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645920"/>
            <a:ext cx="2377440" cy="914400"/>
          </a:xfrm>
          <a:prstGeom prst="roundRect">
            <a:avLst/>
          </a:prstGeom>
          <a:solidFill>
            <a:srgbClr val="D5E8D4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E7D32"/>
                </a:solidFill>
              </a:rPr>
              <a:t>Architecture-as-code
policy pack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34640" y="2103120"/>
            <a:ext cx="365760" cy="0"/>
          </a:xfrm>
          <a:prstGeom prst="line">
            <a:avLst/>
          </a:prstGeom>
          <a:ln w="22225">
            <a:solidFill>
              <a:srgbClr val="1F4E7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394960" y="2103120"/>
            <a:ext cx="365760" cy="0"/>
          </a:xfrm>
          <a:prstGeom prst="line">
            <a:avLst/>
          </a:prstGeom>
          <a:ln w="22225">
            <a:solidFill>
              <a:srgbClr val="1F4E7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30175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</a:rPr>
              <a:t>Enforce every PR (deterministic)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74720"/>
            <a:ext cx="2011680" cy="914400"/>
          </a:xfrm>
          <a:prstGeom prst="roundRect">
            <a:avLst/>
          </a:prstGeom>
          <a:solidFill>
            <a:srgbClr val="DAE3F3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4E79"/>
                </a:solidFill>
              </a:rPr>
              <a:t>Pull request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3474720"/>
            <a:ext cx="2743200" cy="914400"/>
          </a:xfrm>
          <a:prstGeom prst="roundRect">
            <a:avLst/>
          </a:prstGeom>
          <a:solidFill>
            <a:srgbClr val="DAE3F3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4E79"/>
                </a:solidFill>
              </a:rPr>
              <a:t>Native parsers
Structurizr / dep-cruiser / TF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474720"/>
            <a:ext cx="2194560" cy="914400"/>
          </a:xfrm>
          <a:prstGeom prst="roundRect">
            <a:avLst/>
          </a:prstGeom>
          <a:solidFill>
            <a:srgbClr val="DAE3F3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4E79"/>
                </a:solidFill>
              </a:rPr>
              <a:t>Engine evaluates
engine/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3108960"/>
            <a:ext cx="2743200" cy="822960"/>
          </a:xfrm>
          <a:prstGeom prst="roundRect">
            <a:avLst/>
          </a:prstGeom>
          <a:solidFill>
            <a:srgbClr val="F8CECE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C0392B"/>
                </a:solidFill>
              </a:rPr>
              <a:t>Blocking? -&gt; PR fails
policyId + file:line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4206240"/>
            <a:ext cx="2743200" cy="82296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B7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B76E00"/>
                </a:solidFill>
              </a:rPr>
              <a:t>Otherwise -&gt; advisory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68880" y="3931920"/>
            <a:ext cx="457200" cy="0"/>
          </a:xfrm>
          <a:prstGeom prst="line">
            <a:avLst/>
          </a:prstGeom>
          <a:ln w="22225">
            <a:solidFill>
              <a:srgbClr val="1F4E7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669280" y="3931920"/>
            <a:ext cx="457200" cy="0"/>
          </a:xfrm>
          <a:prstGeom prst="line">
            <a:avLst/>
          </a:prstGeom>
          <a:ln w="22225">
            <a:solidFill>
              <a:srgbClr val="1F4E7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321040" y="3520440"/>
            <a:ext cx="457200" cy="320040"/>
          </a:xfrm>
          <a:prstGeom prst="line">
            <a:avLst/>
          </a:prstGeom>
          <a:ln w="22225">
            <a:solidFill>
              <a:srgbClr val="C039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321040" y="4023360"/>
            <a:ext cx="457200" cy="594360"/>
          </a:xfrm>
          <a:prstGeom prst="line">
            <a:avLst/>
          </a:prstGeom>
          <a:ln w="22225">
            <a:solidFill>
              <a:srgbClr val="B76E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949440" y="1645920"/>
            <a:ext cx="274320" cy="1828800"/>
          </a:xfrm>
          <a:prstGeom prst="line">
            <a:avLst/>
          </a:prstGeom>
          <a:ln w="22225">
            <a:solidFill>
              <a:srgbClr val="2E7D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000" b="1">
                <a:solidFill>
                  <a:srgbClr val="FFFFFF"/>
                </a:solidFill>
              </a:rPr>
              <a:t>   Sequence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74765" y="1371600"/>
            <a:ext cx="1371600" cy="548640"/>
          </a:xfrm>
          <a:prstGeom prst="roundRect">
            <a:avLst/>
          </a:prstGeom>
          <a:solidFill>
            <a:srgbClr val="DAE3F3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4E79"/>
                </a:solidFill>
              </a:rPr>
              <a:t>Architect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260565" y="1920240"/>
            <a:ext cx="0" cy="438912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181497" y="1371600"/>
            <a:ext cx="1371600" cy="548640"/>
          </a:xfrm>
          <a:prstGeom prst="roundRect">
            <a:avLst/>
          </a:prstGeom>
          <a:solidFill>
            <a:srgbClr val="DAE3F3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4E79"/>
                </a:solidFill>
              </a:rPr>
              <a:t>UI / PR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67297" y="1920240"/>
            <a:ext cx="0" cy="438912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788228" y="1371600"/>
            <a:ext cx="1371600" cy="548640"/>
          </a:xfrm>
          <a:prstGeom prst="roundRect">
            <a:avLst/>
          </a:prstGeom>
          <a:solidFill>
            <a:srgbClr val="DAE3F3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4E79"/>
                </a:solidFill>
              </a:rPr>
              <a:t>Skill (LLM)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474028" y="1920240"/>
            <a:ext cx="0" cy="438912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394960" y="1371600"/>
            <a:ext cx="1371600" cy="548640"/>
          </a:xfrm>
          <a:prstGeom prst="roundRect">
            <a:avLst/>
          </a:prstGeom>
          <a:solidFill>
            <a:srgbClr val="DAE3F3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4E79"/>
                </a:solidFill>
              </a:rPr>
              <a:t>Repo (main)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1920240"/>
            <a:ext cx="0" cy="438912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001691" y="1371600"/>
            <a:ext cx="1371600" cy="548640"/>
          </a:xfrm>
          <a:prstGeom prst="roundRect">
            <a:avLst/>
          </a:prstGeom>
          <a:solidFill>
            <a:srgbClr val="DAE3F3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4E79"/>
                </a:solidFill>
              </a:rPr>
              <a:t>Developer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87491" y="1920240"/>
            <a:ext cx="0" cy="438912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608422" y="1371600"/>
            <a:ext cx="1371600" cy="548640"/>
          </a:xfrm>
          <a:prstGeom prst="roundRect">
            <a:avLst/>
          </a:prstGeom>
          <a:solidFill>
            <a:srgbClr val="DAE3F3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4E79"/>
                </a:solidFill>
              </a:rPr>
              <a:t>Pipeline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94222" y="1920240"/>
            <a:ext cx="0" cy="438912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215154" y="1371600"/>
            <a:ext cx="1371600" cy="548640"/>
          </a:xfrm>
          <a:prstGeom prst="roundRect">
            <a:avLst/>
          </a:prstGeom>
          <a:solidFill>
            <a:srgbClr val="DAE3F3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4E79"/>
                </a:solidFill>
              </a:rPr>
              <a:t>Engine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900954" y="1920240"/>
            <a:ext cx="0" cy="438912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60565" y="2377440"/>
            <a:ext cx="1606732" cy="0"/>
          </a:xfrm>
          <a:prstGeom prst="line">
            <a:avLst/>
          </a:prstGeom>
          <a:ln w="22225">
            <a:solidFill>
              <a:srgbClr val="1F4E7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260565" y="2084832"/>
            <a:ext cx="178961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</a:rPr>
              <a:t>write rule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67297" y="2761488"/>
            <a:ext cx="1606731" cy="0"/>
          </a:xfrm>
          <a:prstGeom prst="line">
            <a:avLst/>
          </a:prstGeom>
          <a:ln w="22225">
            <a:solidFill>
              <a:srgbClr val="1F4E7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867297" y="2468880"/>
            <a:ext cx="178961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</a:rPr>
              <a:t>submit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74028" y="3054096"/>
            <a:ext cx="822960" cy="256032"/>
          </a:xfrm>
          <a:prstGeom prst="rect">
            <a:avLst/>
          </a:prstGeom>
          <a:solidFill>
            <a:srgbClr val="DAE3F3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19748" y="3035808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4E79"/>
                </a:solidFill>
              </a:rPr>
              <a:t>compile to code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474028" y="3529584"/>
            <a:ext cx="1606732" cy="0"/>
          </a:xfrm>
          <a:prstGeom prst="line">
            <a:avLst/>
          </a:prstGeom>
          <a:ln w="22225">
            <a:solidFill>
              <a:srgbClr val="1F4E7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74028" y="3236976"/>
            <a:ext cx="178961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</a:rPr>
              <a:t>PR policy pack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260565" y="3913632"/>
            <a:ext cx="4820195" cy="0"/>
          </a:xfrm>
          <a:prstGeom prst="line">
            <a:avLst/>
          </a:prstGeom>
          <a:ln w="22225">
            <a:solidFill>
              <a:srgbClr val="1F4E7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260565" y="3621024"/>
            <a:ext cx="500307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</a:rPr>
              <a:t>review &amp; merge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87491" y="4297680"/>
            <a:ext cx="1606731" cy="0"/>
          </a:xfrm>
          <a:prstGeom prst="line">
            <a:avLst/>
          </a:prstGeom>
          <a:ln w="22225">
            <a:solidFill>
              <a:srgbClr val="1F4E7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687491" y="4005072"/>
            <a:ext cx="178961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</a:rPr>
              <a:t>open PR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94222" y="4590288"/>
            <a:ext cx="822960" cy="256032"/>
          </a:xfrm>
          <a:prstGeom prst="rect">
            <a:avLst/>
          </a:prstGeom>
          <a:solidFill>
            <a:srgbClr val="DAE3F3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39942" y="457200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4E79"/>
                </a:solidFill>
              </a:rPr>
              <a:t>run parsers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294222" y="5065776"/>
            <a:ext cx="1606732" cy="0"/>
          </a:xfrm>
          <a:prstGeom prst="line">
            <a:avLst/>
          </a:prstGeom>
          <a:ln w="22225">
            <a:solidFill>
              <a:srgbClr val="1F4E7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294222" y="4773168"/>
            <a:ext cx="178961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</a:rPr>
              <a:t>evaluate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9294222" y="5449824"/>
            <a:ext cx="1606732" cy="0"/>
          </a:xfrm>
          <a:prstGeom prst="line">
            <a:avLst/>
          </a:prstGeom>
          <a:ln w="22225">
            <a:solidFill>
              <a:srgbClr val="1F4E7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294222" y="5157216"/>
            <a:ext cx="178961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</a:rPr>
              <a:t>findings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7687491" y="5833872"/>
            <a:ext cx="1606731" cy="0"/>
          </a:xfrm>
          <a:prstGeom prst="line">
            <a:avLst/>
          </a:prstGeom>
          <a:ln w="22225">
            <a:solidFill>
              <a:srgbClr val="1F4E7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687491" y="5541264"/>
            <a:ext cx="178961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</a:rPr>
              <a:t>block / advise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000" b="1">
                <a:solidFill>
                  <a:srgbClr val="FFFFFF"/>
                </a:solidFill>
              </a:rPr>
              <a:t>   Role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2743200" cy="1463040"/>
          </a:xfrm>
          <a:prstGeom prst="roundRect">
            <a:avLst/>
          </a:prstGeom>
          <a:solidFill>
            <a:srgbClr val="DAE3F3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4E79"/>
                </a:solidFill>
              </a:rPr>
              <a:t>Architect
Authors org/team rules
Reviews compiled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554480"/>
            <a:ext cx="2743200" cy="1463040"/>
          </a:xfrm>
          <a:prstGeom prst="roundRect">
            <a:avLst/>
          </a:prstGeom>
          <a:solidFill>
            <a:srgbClr val="D5E8D4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E7D32"/>
                </a:solidFill>
              </a:rPr>
              <a:t>Skill / LLM
(authoring time)
Compiles English -&gt; predicates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1554480"/>
            <a:ext cx="2743200" cy="1463040"/>
          </a:xfrm>
          <a:prstGeom prst="roundRect">
            <a:avLst/>
          </a:prstGeom>
          <a:solidFill>
            <a:srgbClr val="DAE3F3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4E79"/>
                </a:solidFill>
              </a:rPr>
              <a:t>Developer
Opens PR
Fixes flagged drift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4206240"/>
            <a:ext cx="2743200" cy="128016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B7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B76E00"/>
                </a:solidFill>
              </a:rPr>
              <a:t>Pipeline
(runtime)
Parsers + engine on every PR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383280" y="2286000"/>
            <a:ext cx="1280160" cy="0"/>
          </a:xfrm>
          <a:prstGeom prst="line">
            <a:avLst/>
          </a:prstGeom>
          <a:ln w="22225">
            <a:solidFill>
              <a:srgbClr val="1F4E7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406640" y="2286000"/>
            <a:ext cx="1280160" cy="0"/>
          </a:xfrm>
          <a:prstGeom prst="line">
            <a:avLst/>
          </a:prstGeom>
          <a:ln w="22225">
            <a:solidFill>
              <a:srgbClr val="1F4E7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35040" y="3017520"/>
            <a:ext cx="0" cy="1188720"/>
          </a:xfrm>
          <a:prstGeom prst="line">
            <a:avLst/>
          </a:prstGeom>
          <a:ln w="22225">
            <a:solidFill>
              <a:srgbClr val="2E7D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406640" y="3017520"/>
            <a:ext cx="2651760" cy="1463040"/>
          </a:xfrm>
          <a:prstGeom prst="line">
            <a:avLst/>
          </a:prstGeom>
          <a:ln w="22225">
            <a:solidFill>
              <a:srgbClr val="1F4E7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000" b="1">
                <a:solidFill>
                  <a:srgbClr val="FFFFFF"/>
                </a:solidFill>
              </a:rPr>
              <a:t>   What architecture-as-code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</a:rPr>
              <a:t>English rule: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444444"/>
                </a:solidFill>
              </a:rPr>
              <a:t>“Modules in payments must not call legacy-billing synchronously.”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651760"/>
            <a:ext cx="10698480" cy="31089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9CDCFE"/>
                </a:solidFill>
                <a:latin typeface="Consolas"/>
              </a:rPr>
              <a:t>{
  "policyId": "ARC-COM-003",
  "scope": "domain:payments",
  "tier": "lld",
  "severity": "block",
  "predicate": "require_async_cross_context(target='legacy-billing')",
  "source": "rules/payments.md#rule-1"
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000" b="1">
                <a:solidFill>
                  <a:srgbClr val="FFFFFF"/>
                </a:solidFill>
              </a:rPr>
              <a:t>   Built for parallel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943600" cy="640080"/>
          </a:xfrm>
          <a:prstGeom prst="roundRect">
            <a:avLst/>
          </a:prstGeom>
          <a:solidFill>
            <a:srgbClr val="DAE3F3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4E79"/>
                </a:solidFill>
              </a:rPr>
              <a:t>Skill / Authoring (LLM)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645920"/>
            <a:ext cx="27432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444444"/>
                </a:solidFill>
              </a:rPr>
              <a:t>skill/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1645920"/>
            <a:ext cx="16459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444444"/>
                </a:solidFill>
              </a:rPr>
              <a:t>owner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5943600" cy="640080"/>
          </a:xfrm>
          <a:prstGeom prst="roundRect">
            <a:avLst/>
          </a:prstGeom>
          <a:solidFill>
            <a:srgbClr val="DAE3F3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4E79"/>
                </a:solidFill>
              </a:rPr>
              <a:t>Engine (deterministic)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2423160"/>
            <a:ext cx="27432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444444"/>
                </a:solidFill>
              </a:rPr>
              <a:t>engine/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2423160"/>
            <a:ext cx="16459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444444"/>
                </a:solidFill>
              </a:rPr>
              <a:t>owner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5943600" cy="640080"/>
          </a:xfrm>
          <a:prstGeom prst="roundRect">
            <a:avLst/>
          </a:prstGeom>
          <a:solidFill>
            <a:srgbClr val="DAE3F3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4E79"/>
                </a:solidFill>
              </a:rPr>
              <a:t>Pipeline (CI trigger)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200400"/>
            <a:ext cx="27432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444444"/>
                </a:solidFill>
              </a:rPr>
              <a:t>pipeline/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3200400"/>
            <a:ext cx="16459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444444"/>
                </a:solidFill>
              </a:rPr>
              <a:t>owner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943600" cy="640080"/>
          </a:xfrm>
          <a:prstGeom prst="roundRect">
            <a:avLst/>
          </a:prstGeom>
          <a:solidFill>
            <a:srgbClr val="DAE3F3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4E79"/>
                </a:solidFill>
              </a:rPr>
              <a:t>UI (author + review)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977639"/>
            <a:ext cx="27432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444444"/>
                </a:solidFill>
              </a:rPr>
              <a:t>ui/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3977639"/>
            <a:ext cx="16459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444444"/>
                </a:solidFill>
              </a:rPr>
              <a:t>owner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754879"/>
            <a:ext cx="5943600" cy="640080"/>
          </a:xfrm>
          <a:prstGeom prst="roundRect">
            <a:avLst/>
          </a:prstGeom>
          <a:solidFill>
            <a:srgbClr val="DAE3F3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4E79"/>
                </a:solidFill>
              </a:rPr>
              <a:t>Pitch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4754879"/>
            <a:ext cx="27432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444444"/>
                </a:solidFill>
              </a:rPr>
              <a:t>pitch/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4754879"/>
            <a:ext cx="16459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444444"/>
                </a:solidFill>
              </a:rPr>
              <a:t>owner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</a:rPr>
              <a:t>Four independent workstreams, one JSON contract between them.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000" b="1">
                <a:solidFill>
                  <a:srgbClr val="FFFFFF"/>
                </a:solidFill>
              </a:rPr>
              <a:t>   Why it wins &amp; 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</a:rPr>
              <a:t>• Deterministic gate — reproducible and auditable, unlike generic AI reviewers.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</a:rPr>
              <a:t>• Evidence-bound — every finding has a policy ID and file:line.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</a:rPr>
              <a:t>• Author once, enforce always — LLM effort spent at authoring, not per PR.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</a:rPr>
              <a:t>• Continuous — architecture review at every step, seamless for developers.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E7D32"/>
                </a:solidFill>
              </a:rPr>
              <a:t>The ask:</a:t>
            </a:r>
          </a:p>
          <a:p>
            <a:pPr algn="l"/>
            <a:r>
              <a:rPr sz="1800" b="0">
                <a:solidFill>
                  <a:srgbClr val="2E7D32"/>
                </a:solidFill>
              </a:rPr>
              <a:t>• Pick your area and grab it in CODEOWNERS.</a:t>
            </a:r>
          </a:p>
          <a:p>
            <a:pPr algn="l"/>
            <a:r>
              <a:rPr sz="1800" b="0">
                <a:solidFill>
                  <a:srgbClr val="2E7D32"/>
                </a:solidFill>
              </a:rPr>
              <a:t>• Demo: English rule -&gt; compiled policy -&gt; blocked PR, end to end.</a:t>
            </a:r>
          </a:p>
          <a:p>
            <a:pPr algn="l"/>
            <a:r>
              <a:rPr sz="1800" b="0">
                <a:solidFill>
                  <a:srgbClr val="2E7D32"/>
                </a:solidFill>
              </a:rPr>
              <a:t>• Stretch: live UI authoring + advisory comments on a real PR.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